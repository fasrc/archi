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1" name="Google Shape;21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2" name="Google Shape;42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8" name="Google Shape;58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9" name="Google Shape;59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6" name="Google Shape;66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10" name="Google Shape;10;p1" title="logo2027_400-notxt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800" y="14626"/>
            <a:ext cx="3166400" cy="672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868680"/>
            <a:ext cx="11365992" cy="603504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2A689E"/>
                </a:solidFill>
                <a:latin typeface="Arial"/>
              </a:rPr>
              <a:t>Archi — retrieval-augmented Q&amp;A over FASRC documentation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5A6B7B"/>
                </a:solidFill>
                <a:latin typeface="Arial"/>
              </a:rPr>
              <a:t>An LLM answers Cannon questions only from retrieved FASRC docs, with citations. Two paths share one store: ingest runs offline, retrieval runs per question.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417319"/>
            <a:ext cx="1371600" cy="32004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72768"/>
            <a:ext cx="3657600" cy="1828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90000"/>
                </a:solidFill>
                <a:latin typeface="Arial"/>
              </a:rPr>
              <a:t>INGEST  ·  offline, re-runs on redeploy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773936"/>
            <a:ext cx="2053742" cy="1078992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 w="15875">
            <a:solidFill>
              <a:srgbClr val="2A68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rIns="73152" tIns="64008" wrap="square"/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990000"/>
                </a:solidFill>
                <a:latin typeface="Arial"/>
              </a:rPr>
              <a:t>1</a:t>
            </a:r>
          </a:p>
          <a:p>
            <a:pPr algn="l">
              <a:spcAft>
                <a:spcPts val="300"/>
              </a:spcAft>
            </a:pPr>
            <a:r>
              <a:rPr sz="1150" b="1">
                <a:solidFill>
                  <a:srgbClr val="2A689E"/>
                </a:solidFill>
                <a:latin typeface="Arial"/>
              </a:rPr>
              <a:t>Sources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1A1A1A"/>
                </a:solidFill>
                <a:latin typeface="Arial"/>
              </a:rPr>
              <a:t>config/archi-config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1A1A1A"/>
                </a:solidFill>
                <a:latin typeface="Arial"/>
              </a:rPr>
              <a:t>sources.list — 370 lines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1A1A1A"/>
                </a:solidFill>
                <a:latin typeface="Arial"/>
              </a:rPr>
              <a:t>docs.rc.fas + 2 git repos</a:t>
            </a:r>
          </a:p>
        </p:txBody>
      </p:sp>
      <p:sp>
        <p:nvSpPr>
          <p:cNvPr id="6" name="Isosceles Triangle 5"/>
          <p:cNvSpPr/>
          <p:nvPr/>
        </p:nvSpPr>
        <p:spPr>
          <a:xfrm rot="5400000">
            <a:off x="2524658" y="2235708"/>
            <a:ext cx="155448" cy="155448"/>
          </a:xfrm>
          <a:prstGeom prst="triangle">
            <a:avLst/>
          </a:prstGeom>
          <a:solidFill>
            <a:srgbClr val="2A6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39542" y="1773936"/>
            <a:ext cx="2053742" cy="1078992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 w="15875">
            <a:solidFill>
              <a:srgbClr val="2A68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rIns="73152" tIns="64008" wrap="square"/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990000"/>
                </a:solidFill>
                <a:latin typeface="Arial"/>
              </a:rPr>
              <a:t>2</a:t>
            </a:r>
          </a:p>
          <a:p>
            <a:pPr algn="l">
              <a:spcAft>
                <a:spcPts val="300"/>
              </a:spcAft>
            </a:pPr>
            <a:r>
              <a:rPr sz="1150" b="1">
                <a:solidFill>
                  <a:srgbClr val="2A689E"/>
                </a:solidFill>
                <a:latin typeface="Arial"/>
              </a:rPr>
              <a:t>Collect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1A1A1A"/>
                </a:solidFill>
                <a:latin typeface="Arial"/>
              </a:rPr>
              <a:t>Web scraper + git cloner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1A1A1A"/>
                </a:solidFill>
                <a:latin typeface="Arial"/>
              </a:rPr>
              <a:t>HTML → Markdown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1A1A1A"/>
                </a:solidFill>
                <a:latin typeface="Arial"/>
              </a:rPr>
              <a:t>LLM tags a category</a:t>
            </a:r>
          </a:p>
        </p:txBody>
      </p:sp>
      <p:sp>
        <p:nvSpPr>
          <p:cNvPr id="8" name="Isosceles Triangle 7"/>
          <p:cNvSpPr/>
          <p:nvPr/>
        </p:nvSpPr>
        <p:spPr>
          <a:xfrm rot="5400000">
            <a:off x="4852720" y="2235708"/>
            <a:ext cx="155448" cy="155448"/>
          </a:xfrm>
          <a:prstGeom prst="triangle">
            <a:avLst/>
          </a:prstGeom>
          <a:solidFill>
            <a:srgbClr val="2A6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67604" y="1773936"/>
            <a:ext cx="2053742" cy="1078992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 w="15875">
            <a:solidFill>
              <a:srgbClr val="2A68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rIns="73152" tIns="64008" wrap="square"/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990000"/>
                </a:solidFill>
                <a:latin typeface="Arial"/>
              </a:rPr>
              <a:t>3</a:t>
            </a:r>
          </a:p>
          <a:p>
            <a:pPr algn="l">
              <a:spcAft>
                <a:spcPts val="300"/>
              </a:spcAft>
            </a:pPr>
            <a:r>
              <a:rPr sz="1150" b="1">
                <a:solidFill>
                  <a:srgbClr val="2A689E"/>
                </a:solidFill>
                <a:latin typeface="Arial"/>
              </a:rPr>
              <a:t>Load &amp; parse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1A1A1A"/>
                </a:solidFill>
                <a:latin typeface="Arial"/>
              </a:rPr>
              <a:t>Loader per file type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1A1A1A"/>
                </a:solidFill>
                <a:latin typeface="Arial"/>
              </a:rPr>
              <a:t>.md .py .sbatch .f90 .ipynb</a:t>
            </a:r>
          </a:p>
        </p:txBody>
      </p:sp>
      <p:sp>
        <p:nvSpPr>
          <p:cNvPr id="10" name="Isosceles Triangle 9"/>
          <p:cNvSpPr/>
          <p:nvPr/>
        </p:nvSpPr>
        <p:spPr>
          <a:xfrm rot="5400000">
            <a:off x="7180783" y="2235708"/>
            <a:ext cx="155448" cy="155448"/>
          </a:xfrm>
          <a:prstGeom prst="triangle">
            <a:avLst/>
          </a:prstGeom>
          <a:solidFill>
            <a:srgbClr val="2A6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95667" y="1773936"/>
            <a:ext cx="2053742" cy="1078992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 w="15875">
            <a:solidFill>
              <a:srgbClr val="2A68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rIns="73152" tIns="64008" wrap="square"/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990000"/>
                </a:solidFill>
                <a:latin typeface="Arial"/>
              </a:rPr>
              <a:t>4</a:t>
            </a:r>
          </a:p>
          <a:p>
            <a:pPr algn="l">
              <a:spcAft>
                <a:spcPts val="300"/>
              </a:spcAft>
            </a:pPr>
            <a:r>
              <a:rPr sz="1150" b="1">
                <a:solidFill>
                  <a:srgbClr val="2A689E"/>
                </a:solidFill>
                <a:latin typeface="Arial"/>
              </a:rPr>
              <a:t>Chunk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1A1A1A"/>
                </a:solidFill>
                <a:latin typeface="Arial"/>
              </a:rPr>
              <a:t>Markdown-aware split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1A1A1A"/>
                </a:solidFill>
                <a:latin typeface="Arial"/>
              </a:rPr>
              <a:t>parent 2,048 tok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1A1A1A"/>
                </a:solidFill>
                <a:latin typeface="Arial"/>
              </a:rPr>
              <a:t>child 512 tok</a:t>
            </a:r>
          </a:p>
        </p:txBody>
      </p:sp>
      <p:sp>
        <p:nvSpPr>
          <p:cNvPr id="12" name="Isosceles Triangle 11"/>
          <p:cNvSpPr/>
          <p:nvPr/>
        </p:nvSpPr>
        <p:spPr>
          <a:xfrm rot="5400000">
            <a:off x="9508845" y="2235708"/>
            <a:ext cx="155448" cy="155448"/>
          </a:xfrm>
          <a:prstGeom prst="triangle">
            <a:avLst/>
          </a:prstGeom>
          <a:solidFill>
            <a:srgbClr val="2A6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723729" y="1773936"/>
            <a:ext cx="2053742" cy="1078992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 w="15875">
            <a:solidFill>
              <a:srgbClr val="2A68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rIns="73152" tIns="64008" wrap="square"/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990000"/>
                </a:solidFill>
                <a:latin typeface="Arial"/>
              </a:rPr>
              <a:t>5</a:t>
            </a:r>
          </a:p>
          <a:p>
            <a:pPr algn="l">
              <a:spcAft>
                <a:spcPts val="300"/>
              </a:spcAft>
            </a:pPr>
            <a:r>
              <a:rPr sz="1150" b="1">
                <a:solidFill>
                  <a:srgbClr val="2A689E"/>
                </a:solidFill>
                <a:latin typeface="Arial"/>
              </a:rPr>
              <a:t>Embed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1A1A1A"/>
                </a:solidFill>
                <a:latin typeface="Arial"/>
              </a:rPr>
              <a:t>all-MiniLM-L6-v2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1A1A1A"/>
                </a:solidFill>
                <a:latin typeface="Arial"/>
              </a:rPr>
              <a:t>384-dim vectors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1A1A1A"/>
                </a:solidFill>
                <a:latin typeface="Arial"/>
              </a:rPr>
              <a:t>32 parallel workers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3748125" y="2898648"/>
            <a:ext cx="146304" cy="201167"/>
          </a:xfrm>
          <a:prstGeom prst="downArrow">
            <a:avLst/>
          </a:prstGeom>
          <a:solidFill>
            <a:srgbClr val="2A6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49293" y="2944368"/>
            <a:ext cx="1280160" cy="1828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2A689E"/>
                </a:solidFill>
                <a:latin typeface="Arial"/>
              </a:rPr>
              <a:t>writes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145536"/>
            <a:ext cx="11365992" cy="786384"/>
          </a:xfrm>
          <a:prstGeom prst="roundRect">
            <a:avLst>
              <a:gd name="adj" fmla="val 6000"/>
            </a:avLst>
          </a:prstGeom>
          <a:solidFill>
            <a:srgbClr val="2A6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wrap="square"/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PostgreSQL 16 + pgvector  ·  single database, single node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D8E6F2"/>
                </a:solidFill>
                <a:latin typeface="Arial"/>
              </a:rPr>
              <a:t>documents 1,286 embedded   ·   document_chunks 8,492 (embedded children, HNSW + BM25 index)   ·   document_parent_nodes 20,445 (full-context parents)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8294522" y="3977639"/>
            <a:ext cx="146304" cy="402336"/>
          </a:xfrm>
          <a:prstGeom prst="downArrow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95690" y="4023359"/>
            <a:ext cx="1280160" cy="1828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990000"/>
                </a:solidFill>
                <a:latin typeface="Arial"/>
              </a:rPr>
              <a:t>reads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224528"/>
            <a:ext cx="3657600" cy="1828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90000"/>
                </a:solidFill>
                <a:latin typeface="Arial"/>
              </a:rPr>
              <a:t>ASK  ·  per question, ~seconds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4425696"/>
            <a:ext cx="1696212" cy="1133856"/>
          </a:xfrm>
          <a:prstGeom prst="roundRect">
            <a:avLst>
              <a:gd name="adj" fmla="val 6000"/>
            </a:avLst>
          </a:prstGeom>
          <a:solidFill>
            <a:srgbClr val="FAF0F0"/>
          </a:solidFill>
          <a:ln w="15875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rIns="73152" tIns="64008" wrap="square"/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990000"/>
                </a:solidFill>
                <a:latin typeface="Arial"/>
              </a:rPr>
              <a:t>1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990000"/>
                </a:solidFill>
                <a:latin typeface="Arial"/>
              </a:rPr>
              <a:t>Question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1A1A1A"/>
                </a:solidFill>
                <a:latin typeface="Arial"/>
              </a:rPr>
              <a:t>Chat UI on :7861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1A1A1A"/>
                </a:solidFill>
                <a:latin typeface="Arial"/>
              </a:rPr>
              <a:t>VPN users</a:t>
            </a:r>
          </a:p>
        </p:txBody>
      </p:sp>
      <p:sp>
        <p:nvSpPr>
          <p:cNvPr id="21" name="Isosceles Triangle 20"/>
          <p:cNvSpPr/>
          <p:nvPr/>
        </p:nvSpPr>
        <p:spPr>
          <a:xfrm rot="5400000">
            <a:off x="2148840" y="4914900"/>
            <a:ext cx="155448" cy="155448"/>
          </a:xfrm>
          <a:prstGeom prst="triangle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345436" y="4425696"/>
            <a:ext cx="1696212" cy="1133856"/>
          </a:xfrm>
          <a:prstGeom prst="roundRect">
            <a:avLst>
              <a:gd name="adj" fmla="val 6000"/>
            </a:avLst>
          </a:prstGeom>
          <a:solidFill>
            <a:srgbClr val="FAF0F0"/>
          </a:solidFill>
          <a:ln w="15875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rIns="73152" tIns="64008" wrap="square"/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990000"/>
                </a:solidFill>
                <a:latin typeface="Arial"/>
              </a:rPr>
              <a:t>2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990000"/>
                </a:solidFill>
                <a:latin typeface="Arial"/>
              </a:rPr>
              <a:t>Agent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1A1A1A"/>
                </a:solidFill>
                <a:latin typeface="Arial"/>
              </a:rPr>
              <a:t>FASRC v12 (ReAct)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1A1A1A"/>
                </a:solidFill>
                <a:latin typeface="Arial"/>
              </a:rPr>
              <a:t>6 tools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1A1A1A"/>
                </a:solidFill>
                <a:latin typeface="Arial"/>
              </a:rPr>
              <a:t>1st search forced</a:t>
            </a:r>
          </a:p>
        </p:txBody>
      </p:sp>
      <p:sp>
        <p:nvSpPr>
          <p:cNvPr id="23" name="Isosceles Triangle 22"/>
          <p:cNvSpPr/>
          <p:nvPr/>
        </p:nvSpPr>
        <p:spPr>
          <a:xfrm rot="5400000">
            <a:off x="4082796" y="4914900"/>
            <a:ext cx="155448" cy="155448"/>
          </a:xfrm>
          <a:prstGeom prst="triangle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279392" y="4425696"/>
            <a:ext cx="1696212" cy="1133856"/>
          </a:xfrm>
          <a:prstGeom prst="roundRect">
            <a:avLst>
              <a:gd name="adj" fmla="val 6000"/>
            </a:avLst>
          </a:prstGeom>
          <a:solidFill>
            <a:srgbClr val="FAF0F0"/>
          </a:solidFill>
          <a:ln w="15875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rIns="73152" tIns="64008" wrap="square"/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990000"/>
                </a:solidFill>
                <a:latin typeface="Arial"/>
              </a:rPr>
              <a:t>3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990000"/>
                </a:solidFill>
                <a:latin typeface="Arial"/>
              </a:rPr>
              <a:t>Hybrid search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1A1A1A"/>
                </a:solidFill>
                <a:latin typeface="Arial"/>
              </a:rPr>
              <a:t>BM25 0.6 + vector 0.4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1A1A1A"/>
                </a:solidFill>
                <a:latin typeface="Arial"/>
              </a:rPr>
              <a:t>one SQL query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1A1A1A"/>
                </a:solidFill>
                <a:latin typeface="Arial"/>
              </a:rPr>
              <a:t>top 20 children</a:t>
            </a:r>
          </a:p>
        </p:txBody>
      </p:sp>
      <p:sp>
        <p:nvSpPr>
          <p:cNvPr id="25" name="Isosceles Triangle 24"/>
          <p:cNvSpPr/>
          <p:nvPr/>
        </p:nvSpPr>
        <p:spPr>
          <a:xfrm rot="5400000">
            <a:off x="6016752" y="4914900"/>
            <a:ext cx="155448" cy="155448"/>
          </a:xfrm>
          <a:prstGeom prst="triangle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13348" y="4425696"/>
            <a:ext cx="1696212" cy="1133856"/>
          </a:xfrm>
          <a:prstGeom prst="roundRect">
            <a:avLst>
              <a:gd name="adj" fmla="val 6000"/>
            </a:avLst>
          </a:prstGeom>
          <a:solidFill>
            <a:srgbClr val="FAF0F0"/>
          </a:solidFill>
          <a:ln w="15875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rIns="73152" tIns="64008" wrap="square"/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990000"/>
                </a:solidFill>
                <a:latin typeface="Arial"/>
              </a:rPr>
              <a:t>4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990000"/>
                </a:solidFill>
                <a:latin typeface="Arial"/>
              </a:rPr>
              <a:t>Rerank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1A1A1A"/>
                </a:solidFill>
                <a:latin typeface="Arial"/>
              </a:rPr>
              <a:t>Cross-encoder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1A1A1A"/>
                </a:solidFill>
                <a:latin typeface="Arial"/>
              </a:rPr>
              <a:t>MiniLM-L-12-v2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1A1A1A"/>
                </a:solidFill>
                <a:latin typeface="Arial"/>
              </a:rPr>
              <a:t>CPU, reorders 20</a:t>
            </a:r>
          </a:p>
        </p:txBody>
      </p:sp>
      <p:sp>
        <p:nvSpPr>
          <p:cNvPr id="27" name="Isosceles Triangle 26"/>
          <p:cNvSpPr/>
          <p:nvPr/>
        </p:nvSpPr>
        <p:spPr>
          <a:xfrm rot="5400000">
            <a:off x="7950708" y="4914900"/>
            <a:ext cx="155448" cy="155448"/>
          </a:xfrm>
          <a:prstGeom prst="triangle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147304" y="4425696"/>
            <a:ext cx="1696212" cy="1133856"/>
          </a:xfrm>
          <a:prstGeom prst="roundRect">
            <a:avLst>
              <a:gd name="adj" fmla="val 6000"/>
            </a:avLst>
          </a:prstGeom>
          <a:solidFill>
            <a:srgbClr val="FAF0F0"/>
          </a:solidFill>
          <a:ln w="15875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rIns="73152" tIns="64008" wrap="square"/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990000"/>
                </a:solidFill>
                <a:latin typeface="Arial"/>
              </a:rPr>
              <a:t>5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990000"/>
                </a:solidFill>
                <a:latin typeface="Arial"/>
              </a:rPr>
              <a:t>Expand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1A1A1A"/>
                </a:solidFill>
                <a:latin typeface="Arial"/>
              </a:rPr>
              <a:t>child → parent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1A1A1A"/>
                </a:solidFill>
                <a:latin typeface="Arial"/>
              </a:rPr>
              <a:t>dedupe, top 5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1A1A1A"/>
                </a:solidFill>
                <a:latin typeface="Arial"/>
              </a:rPr>
              <a:t>4 reach the LLM</a:t>
            </a:r>
          </a:p>
        </p:txBody>
      </p:sp>
      <p:sp>
        <p:nvSpPr>
          <p:cNvPr id="29" name="Isosceles Triangle 28"/>
          <p:cNvSpPr/>
          <p:nvPr/>
        </p:nvSpPr>
        <p:spPr>
          <a:xfrm rot="5400000">
            <a:off x="9884664" y="4914900"/>
            <a:ext cx="155448" cy="155448"/>
          </a:xfrm>
          <a:prstGeom prst="triangle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081260" y="4425696"/>
            <a:ext cx="1696212" cy="1133856"/>
          </a:xfrm>
          <a:prstGeom prst="roundRect">
            <a:avLst>
              <a:gd name="adj" fmla="val 6000"/>
            </a:avLst>
          </a:prstGeom>
          <a:solidFill>
            <a:srgbClr val="FAF0F0"/>
          </a:solidFill>
          <a:ln w="15875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rIns="73152" tIns="64008" wrap="square"/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990000"/>
                </a:solidFill>
                <a:latin typeface="Arial"/>
              </a:rPr>
              <a:t>6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990000"/>
                </a:solidFill>
                <a:latin typeface="Arial"/>
              </a:rPr>
              <a:t>Answer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1A1A1A"/>
                </a:solidFill>
                <a:latin typeface="Arial"/>
              </a:rPr>
              <a:t>Qwen3.6-35B-A3B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1A1A1A"/>
                </a:solidFill>
                <a:latin typeface="Arial"/>
              </a:rPr>
              <a:t>vLLM on :8001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1A1A1A"/>
                </a:solidFill>
                <a:latin typeface="Arial"/>
              </a:rPr>
              <a:t>with citations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5669280"/>
            <a:ext cx="11365992" cy="38404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A6B7B"/>
                </a:solidFill>
                <a:latin typeface="Arial"/>
              </a:rPr>
              <a:t>Grounding guarantee: the agent cannot answer before retrieving — a first search_vectorstore_hybrid round is pre-filled into every conversation (force_initial_retrieval, on by default).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868680"/>
            <a:ext cx="11365992" cy="603504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2A689E"/>
                </a:solidFill>
                <a:latin typeface="Arial"/>
              </a:rPr>
              <a:t>Deployed on one node — holygpu7c0717 (archi.rc.fas.harvard.edu)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5A6B7B"/>
                </a:solidFill>
                <a:latin typeface="Arial"/>
              </a:rPr>
              <a:t>Everything on slide 1 runs on one GPU node: three containers, one Postgres, one vLLM server. No scheduler, no multi-node orchestration.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417319"/>
            <a:ext cx="1371600" cy="32004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1591056"/>
            <a:ext cx="2690622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2A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wrap="square"/>
          <a:lstStyle/>
          <a:p>
            <a:pPr algn="l">
              <a:spcAft>
                <a:spcPts val="100"/>
              </a:spcAft>
            </a:pPr>
            <a:r>
              <a:rPr sz="750" b="1">
                <a:solidFill>
                  <a:srgbClr val="990000"/>
                </a:solidFill>
                <a:latin typeface="Arial"/>
              </a:rPr>
              <a:t>CPU</a:t>
            </a:r>
          </a:p>
          <a:p>
            <a:pPr algn="l">
              <a:spcAft>
                <a:spcPts val="100"/>
              </a:spcAft>
            </a:pPr>
            <a:r>
              <a:rPr sz="1200" b="1">
                <a:solidFill>
                  <a:srgbClr val="2A689E"/>
                </a:solidFill>
                <a:latin typeface="Arial"/>
              </a:rPr>
              <a:t>2 × Xeon Gold 6142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A6B7B"/>
                </a:solidFill>
                <a:latin typeface="Arial"/>
              </a:rPr>
              <a:t>32 cores · 2 NUMA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03270" y="1591056"/>
            <a:ext cx="2690622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2A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wrap="square"/>
          <a:lstStyle/>
          <a:p>
            <a:pPr algn="l">
              <a:spcAft>
                <a:spcPts val="100"/>
              </a:spcAft>
            </a:pPr>
            <a:r>
              <a:rPr sz="750" b="1">
                <a:solidFill>
                  <a:srgbClr val="990000"/>
                </a:solidFill>
                <a:latin typeface="Arial"/>
              </a:rPr>
              <a:t>MEMORY</a:t>
            </a:r>
          </a:p>
          <a:p>
            <a:pPr algn="l">
              <a:spcAft>
                <a:spcPts val="100"/>
              </a:spcAft>
            </a:pPr>
            <a:r>
              <a:rPr sz="1200" b="1">
                <a:solidFill>
                  <a:srgbClr val="2A689E"/>
                </a:solidFill>
                <a:latin typeface="Arial"/>
              </a:rPr>
              <a:t>377 GB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A6B7B"/>
                </a:solidFill>
                <a:latin typeface="Arial"/>
              </a:rPr>
              <a:t>337 GB available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5060" y="1591056"/>
            <a:ext cx="2690622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2A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wrap="square"/>
          <a:lstStyle/>
          <a:p>
            <a:pPr algn="l">
              <a:spcAft>
                <a:spcPts val="100"/>
              </a:spcAft>
            </a:pPr>
            <a:r>
              <a:rPr sz="750" b="1">
                <a:solidFill>
                  <a:srgbClr val="990000"/>
                </a:solidFill>
                <a:latin typeface="Arial"/>
              </a:rPr>
              <a:t>GPU</a:t>
            </a:r>
          </a:p>
          <a:p>
            <a:pPr algn="l">
              <a:spcAft>
                <a:spcPts val="100"/>
              </a:spcAft>
            </a:pPr>
            <a:r>
              <a:rPr sz="1200" b="1">
                <a:solidFill>
                  <a:srgbClr val="2A689E"/>
                </a:solidFill>
                <a:latin typeface="Arial"/>
              </a:rPr>
              <a:t>4 × Tesla V100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A6B7B"/>
                </a:solidFill>
                <a:latin typeface="Arial"/>
              </a:rPr>
              <a:t>32 GB each · 128 GB total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86850" y="1591056"/>
            <a:ext cx="2690622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2A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wrap="square"/>
          <a:lstStyle/>
          <a:p>
            <a:pPr algn="l">
              <a:spcAft>
                <a:spcPts val="100"/>
              </a:spcAft>
            </a:pPr>
            <a:r>
              <a:rPr sz="750" b="1">
                <a:solidFill>
                  <a:srgbClr val="990000"/>
                </a:solidFill>
                <a:latin typeface="Arial"/>
              </a:rPr>
              <a:t>OS</a:t>
            </a:r>
          </a:p>
          <a:p>
            <a:pPr algn="l">
              <a:spcAft>
                <a:spcPts val="100"/>
              </a:spcAft>
            </a:pPr>
            <a:r>
              <a:rPr sz="1200" b="1">
                <a:solidFill>
                  <a:srgbClr val="2A689E"/>
                </a:solidFill>
                <a:latin typeface="Arial"/>
              </a:rPr>
              <a:t>Rocky Linux 8.10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A6B7B"/>
                </a:solidFill>
                <a:latin typeface="Arial"/>
              </a:rPr>
              <a:t>kernel 4.18 · up 32 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2578608"/>
            <a:ext cx="6903720" cy="1975104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 w="15875">
            <a:solidFill>
              <a:srgbClr val="2A68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57784" y="2679191"/>
            <a:ext cx="6629400" cy="21945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90000"/>
                </a:solidFill>
                <a:latin typeface="Arial"/>
              </a:rPr>
              <a:t>DOCKER  ·  network_mode: host (no port publishing)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7784" y="2999232"/>
            <a:ext cx="2093975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2A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tIns="54864" wrap="square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2A689E"/>
                </a:solidFill>
                <a:latin typeface="Arial"/>
              </a:rPr>
              <a:t>chatbot-dev  :7861</a:t>
            </a:r>
          </a:p>
          <a:p>
            <a:pPr algn="l">
              <a:spcAft>
                <a:spcPts val="100"/>
              </a:spcAft>
            </a:pPr>
            <a:r>
              <a:rPr sz="800" b="0">
                <a:solidFill>
                  <a:srgbClr val="1A1A1A"/>
                </a:solidFill>
                <a:latin typeface="Arial"/>
              </a:rPr>
              <a:t>Flask UI + FASRC agent</a:t>
            </a:r>
          </a:p>
          <a:p>
            <a:pPr algn="l">
              <a:spcAft>
                <a:spcPts val="100"/>
              </a:spcAft>
            </a:pPr>
            <a:r>
              <a:rPr sz="800" b="0">
                <a:solidFill>
                  <a:srgbClr val="1A1A1A"/>
                </a:solidFill>
                <a:latin typeface="Arial"/>
              </a:rPr>
              <a:t>retrieval + citations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16351" y="2999232"/>
            <a:ext cx="2093975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2A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tIns="54864" wrap="square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2A689E"/>
                </a:solidFill>
                <a:latin typeface="Arial"/>
              </a:rPr>
              <a:t>data-manager-dev  :7889</a:t>
            </a:r>
          </a:p>
          <a:p>
            <a:pPr algn="l">
              <a:spcAft>
                <a:spcPts val="100"/>
              </a:spcAft>
            </a:pPr>
            <a:r>
              <a:rPr sz="800" b="0">
                <a:solidFill>
                  <a:srgbClr val="1A1A1A"/>
                </a:solidFill>
                <a:latin typeface="Arial"/>
              </a:rPr>
              <a:t>ingestion service</a:t>
            </a:r>
          </a:p>
          <a:p>
            <a:pPr algn="l">
              <a:spcAft>
                <a:spcPts val="100"/>
              </a:spcAft>
            </a:pPr>
            <a:r>
              <a:rPr sz="800" b="0">
                <a:solidFill>
                  <a:srgbClr val="1A1A1A"/>
                </a:solidFill>
                <a:latin typeface="Arial"/>
              </a:rPr>
              <a:t>auth disabled — firewalled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2999232"/>
            <a:ext cx="2093975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2A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tIns="54864" wrap="square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2A689E"/>
                </a:solidFill>
                <a:latin typeface="Arial"/>
              </a:rPr>
              <a:t>postgres-dev  :5432</a:t>
            </a:r>
          </a:p>
          <a:p>
            <a:pPr algn="l">
              <a:spcAft>
                <a:spcPts val="100"/>
              </a:spcAft>
            </a:pPr>
            <a:r>
              <a:rPr sz="800" b="0">
                <a:solidFill>
                  <a:srgbClr val="1A1A1A"/>
                </a:solidFill>
                <a:latin typeface="Arial"/>
              </a:rPr>
              <a:t>pgvector + BM25</a:t>
            </a:r>
          </a:p>
          <a:p>
            <a:pPr algn="l">
              <a:spcAft>
                <a:spcPts val="100"/>
              </a:spcAft>
            </a:pPr>
            <a:r>
              <a:rPr sz="800" b="0">
                <a:solidFill>
                  <a:srgbClr val="1A1A1A"/>
                </a:solidFill>
                <a:latin typeface="Arial"/>
              </a:rPr>
              <a:t>corpus + config + chats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" y="3858768"/>
            <a:ext cx="6611112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2A689E"/>
                </a:solidFill>
                <a:latin typeface="Arial"/>
              </a:rPr>
              <a:t>config-seed  ·  run-once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1A1A1A"/>
                </a:solidFill>
                <a:latin typeface="Arial"/>
              </a:rPr>
              <a:t>Starts after Postgres is healthy, writes the rendered config into the static_config / dynamic_config tables, then exits. The running config lives in Postgres — editing config.yaml and restarting a container is a no-op.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16368" y="2578608"/>
            <a:ext cx="4261104" cy="1975104"/>
          </a:xfrm>
          <a:prstGeom prst="roundRect">
            <a:avLst>
              <a:gd name="adj" fmla="val 6000"/>
            </a:avLst>
          </a:prstGeom>
          <a:solidFill>
            <a:srgbClr val="FAF0F0"/>
          </a:solidFill>
          <a:ln w="15875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62672" y="2679191"/>
            <a:ext cx="3986784" cy="21945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90000"/>
                </a:solidFill>
                <a:latin typeface="Arial"/>
              </a:rPr>
              <a:t>GPU ALLOCATION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62672" y="2999232"/>
            <a:ext cx="3968496" cy="27432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tIns="0" bIns="0"/>
          <a:lstStyle/>
          <a:p>
            <a:r>
              <a:rPr sz="850" b="1">
                <a:solidFill>
                  <a:srgbClr val="5A6B7B"/>
                </a:solidFill>
                <a:latin typeface="Arial"/>
              </a:rPr>
              <a:t>GPU 0  </a:t>
            </a:r>
            <a:r>
              <a:rPr sz="850" b="0">
                <a:solidFill>
                  <a:srgbClr val="5A6B7B"/>
                </a:solidFill>
                <a:latin typeface="Arial"/>
              </a:rPr>
              <a:t>idle   </a:t>
            </a:r>
            <a:r>
              <a:rPr sz="850" b="1">
                <a:solidFill>
                  <a:srgbClr val="5A6B7B"/>
                </a:solidFill>
                <a:latin typeface="Arial"/>
              </a:rPr>
              <a:t>0 MiB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62672" y="3314700"/>
            <a:ext cx="3968496" cy="27432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tIns="0" bIns="0"/>
          <a:lstStyle/>
          <a:p>
            <a:r>
              <a:rPr sz="850" b="1">
                <a:solidFill>
                  <a:srgbClr val="5A6B7B"/>
                </a:solidFill>
                <a:latin typeface="Arial"/>
              </a:rPr>
              <a:t>GPU 1  </a:t>
            </a:r>
            <a:r>
              <a:rPr sz="850" b="0">
                <a:solidFill>
                  <a:srgbClr val="5A6B7B"/>
                </a:solidFill>
                <a:latin typeface="Arial"/>
              </a:rPr>
              <a:t>idle   </a:t>
            </a:r>
            <a:r>
              <a:rPr sz="850" b="1">
                <a:solidFill>
                  <a:srgbClr val="5A6B7B"/>
                </a:solidFill>
                <a:latin typeface="Arial"/>
              </a:rPr>
              <a:t>0 MiB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62672" y="3630168"/>
            <a:ext cx="3968496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tIns="0" bIns="0"/>
          <a:lstStyle/>
          <a:p>
            <a:r>
              <a:rPr sz="850" b="1">
                <a:solidFill>
                  <a:srgbClr val="2A689E"/>
                </a:solidFill>
                <a:latin typeface="Arial"/>
              </a:rPr>
              <a:t>GPU 2  </a:t>
            </a:r>
            <a:r>
              <a:rPr sz="850" b="0">
                <a:solidFill>
                  <a:srgbClr val="1A1A1A"/>
                </a:solidFill>
                <a:latin typeface="Arial"/>
              </a:rPr>
              <a:t>vLLM worker TP0   </a:t>
            </a:r>
            <a:r>
              <a:rPr sz="850" b="1">
                <a:solidFill>
                  <a:srgbClr val="990000"/>
                </a:solidFill>
                <a:latin typeface="Arial"/>
              </a:rPr>
              <a:t>30.2 / 32 GB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62672" y="3945635"/>
            <a:ext cx="3968496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tIns="0" bIns="0"/>
          <a:lstStyle/>
          <a:p>
            <a:r>
              <a:rPr sz="850" b="1">
                <a:solidFill>
                  <a:srgbClr val="2A689E"/>
                </a:solidFill>
                <a:latin typeface="Arial"/>
              </a:rPr>
              <a:t>GPU 3  </a:t>
            </a:r>
            <a:r>
              <a:rPr sz="850" b="0">
                <a:solidFill>
                  <a:srgbClr val="1A1A1A"/>
                </a:solidFill>
                <a:latin typeface="Arial"/>
              </a:rPr>
              <a:t>vLLM worker TP1   </a:t>
            </a:r>
            <a:r>
              <a:rPr sz="850" b="1">
                <a:solidFill>
                  <a:srgbClr val="990000"/>
                </a:solidFill>
                <a:latin typeface="Arial"/>
              </a:rPr>
              <a:t>30.2 / 32 GB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62672" y="4334256"/>
            <a:ext cx="3968496" cy="40233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>
                <a:solidFill>
                  <a:srgbClr val="2A689E"/>
                </a:solidFill>
                <a:latin typeface="Arial"/>
              </a:rPr>
              <a:t>Qwen3.6-35B-A3B GPTQ-Int4 on :8001</a:t>
            </a:r>
          </a:p>
          <a:p>
            <a:pPr algn="l">
              <a:spcAft>
                <a:spcPts val="0"/>
              </a:spcAft>
            </a:pPr>
            <a:r>
              <a:rPr sz="750" b="0">
                <a:solidFill>
                  <a:srgbClr val="5A6B7B"/>
                </a:solidFill>
                <a:latin typeface="Arial"/>
              </a:rPr>
              <a:t>Volta (CC 7.0) needs a custom vLLM build — no bf16/FP8. Half the GPUs are spare.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4700016"/>
            <a:ext cx="6903720" cy="15910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2A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57784" y="4800600"/>
            <a:ext cx="6611112" cy="12801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990000"/>
                </a:solidFill>
                <a:latin typeface="Arial"/>
              </a:rPr>
              <a:t>CONFIG PROVENANCE  ·  every deploy is pinned</a:t>
            </a:r>
          </a:p>
          <a:p>
            <a:pPr algn="l">
              <a:spcAft>
                <a:spcPts val="300"/>
              </a:spcAft>
            </a:pPr>
            <a:r>
              <a:rPr sz="1000" b="1">
                <a:solidFill>
                  <a:srgbClr val="2A689E"/>
                </a:solidFill>
                <a:latin typeface="Arial"/>
              </a:rPr>
              <a:t>fasrc/archi-config  @  deploy-pin-2026-07b  (98f9bd22)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1A1A1A"/>
                </a:solidFill>
                <a:latin typeface="Arial"/>
              </a:rPr>
              <a:t>redeploy.sh verifies the tag resolves to that exact commit before deploying — a re-pointed tag aborts the run. The pin also fixes the source list, so the corpus is reproducible: 738 git + 548 web documents embedded.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A6B7B"/>
                </a:solidFill>
                <a:latin typeface="Arial"/>
              </a:rPr>
              <a:t>Data volumes survive redeploys; only 'nuke' wipes the corpus (≈88 min to rebuild).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16368" y="4700016"/>
            <a:ext cx="4261104" cy="15910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2A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662672" y="4800600"/>
            <a:ext cx="3968496" cy="12801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990000"/>
                </a:solidFill>
                <a:latin typeface="Arial"/>
              </a:rPr>
              <a:t>ACCESS  ·  VPN only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2A689E"/>
                </a:solidFill>
                <a:latin typeface="Arial"/>
              </a:rPr>
              <a:t>:7861  chat UI</a:t>
            </a:r>
          </a:p>
          <a:p>
            <a:pPr algn="l">
              <a:spcAft>
                <a:spcPts val="100"/>
              </a:spcAft>
            </a:pPr>
            <a:r>
              <a:rPr sz="800" b="0">
                <a:solidFill>
                  <a:srgbClr val="1A1A1A"/>
                </a:solidFill>
                <a:latin typeface="Arial"/>
              </a:rPr>
              <a:t>Harvard gencom VPN  10.1.4.0/22, 10.1.16.0/22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1A1A1A"/>
                </a:solidFill>
                <a:latin typeface="Arial"/>
              </a:rPr>
              <a:t>FASRC VPN  10.255.8.0/22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A6B7B"/>
                </a:solidFill>
                <a:latin typeface="Arial"/>
              </a:rPr>
              <a:t>All other ports admin-VPN only. Rules applied by firewall.sh; the chain ends in REJECT-all.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